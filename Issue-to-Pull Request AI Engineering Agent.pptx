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embeddedFontLst>
    <p:embeddedFont>
      <p:font typeface="Urbanist Bold" panose="020B0A04040200000203" pitchFamily="34" charset="0"/>
      <p:bold r:id="rId15"/>
    </p:embeddedFont>
    <p:embeddedFont>
      <p:font typeface="Urbanist Bold" panose="020B0A04040200000203" pitchFamily="34" charset="-122"/>
      <p:bold r:id="rId16"/>
    </p:embeddedFont>
    <p:embeddedFont>
      <p:font typeface="Urbanist Bold" panose="020B0A04040200000203" pitchFamily="34" charset="-120"/>
      <p:bold r:id="rId17"/>
    </p:embeddedFont>
    <p:embeddedFont>
      <p:font typeface="Urbanist ExtraBold" panose="020B0A04040200000203" pitchFamily="34" charset="0"/>
      <p:bold r:id="rId18"/>
    </p:embeddedFont>
    <p:embeddedFont>
      <p:font typeface="Urbanist ExtraBold" panose="020B0A04040200000203" pitchFamily="34" charset="-122"/>
      <p:bold r:id="rId19"/>
    </p:embeddedFont>
    <p:embeddedFont>
      <p:font typeface="Urbanist ExtraBold" panose="020B0A04040200000203" pitchFamily="34" charset="-120"/>
      <p:bold r:id="rId20"/>
    </p:embeddedFont>
    <p:embeddedFont>
      <p:font typeface="Figtree" pitchFamily="34" charset="0"/>
      <p:regular r:id="rId21"/>
    </p:embeddedFont>
    <p:embeddedFont>
      <p:font typeface="Figtree" pitchFamily="34" charset="-122"/>
      <p:regular r:id="rId22"/>
    </p:embeddedFont>
    <p:embeddedFont>
      <p:font typeface="Figtree" pitchFamily="34" charset="-120"/>
      <p:regular r:id="rId23"/>
    </p:embeddedFont>
    <p:embeddedFont>
      <p:font typeface="Red Hat Mono Medium" panose="02010509040201060303" pitchFamily="34" charset="0"/>
      <p:regular r:id="rId24"/>
    </p:embeddedFont>
    <p:embeddedFont>
      <p:font typeface="Red Hat Mono Medium" panose="02010509040201060303" pitchFamily="34" charset="-122"/>
      <p:regular r:id="rId25"/>
    </p:embeddedFont>
    <p:embeddedFont>
      <p:font typeface="Red Hat Mono Medium" panose="02010509040201060303" pitchFamily="34" charset="-120"/>
      <p:regular r:id="rId26"/>
    </p:embeddedFont>
    <p:embeddedFont>
      <p:font typeface="Figtree SemiBold" pitchFamily="34" charset="0"/>
      <p:bold r:id="rId27"/>
    </p:embeddedFont>
    <p:embeddedFont>
      <p:font typeface="Figtree SemiBold" pitchFamily="34" charset="-122"/>
      <p:bold r:id="rId28"/>
    </p:embeddedFont>
    <p:embeddedFont>
      <p:font typeface="Figtree SemiBold" pitchFamily="34" charset="-120"/>
      <p:bold r:id="rId29"/>
    </p:embeddedFont>
    <p:embeddedFont>
      <p:font typeface="Red Hat Mono SemiBold" panose="02010509040201060303" pitchFamily="34" charset="0"/>
      <p:bold r:id="rId30"/>
    </p:embeddedFont>
    <p:embeddedFont>
      <p:font typeface="Red Hat Mono SemiBold" panose="02010509040201060303" pitchFamily="34" charset="-122"/>
      <p:bold r:id="rId31"/>
    </p:embeddedFont>
    <p:embeddedFont>
      <p:font typeface="Red Hat Mono SemiBold" panose="02010509040201060303" pitchFamily="34" charset="-120"/>
      <p:bold r:id="rId32"/>
    </p:embeddedFont>
    <p:embeddedFont>
      <p:font typeface="Urbanist SemiBold" panose="020B0A04040200000203" pitchFamily="34" charset="0"/>
      <p:bold r:id="rId33"/>
    </p:embeddedFont>
    <p:embeddedFont>
      <p:font typeface="Urbanist SemiBold" panose="020B0A04040200000203" pitchFamily="34" charset="-122"/>
      <p:bold r:id="rId34"/>
    </p:embeddedFont>
    <p:embeddedFont>
      <p:font typeface="Urbanist SemiBold" panose="020B0A04040200000203" pitchFamily="34" charset="-120"/>
      <p:bold r:id="rId35"/>
    </p:embeddedFont>
    <p:embeddedFont>
      <p:font typeface="Consolas" panose="020B0609020204030204" pitchFamily="34" charset="0"/>
      <p:regular r:id="rId36"/>
      <p:bold r:id="rId37"/>
      <p:italic r:id="rId38"/>
      <p:boldItalic r:id="rId39"/>
    </p:embeddedFont>
    <p:embeddedFont>
      <p:font typeface="Consolas" panose="020B0609020204030204" pitchFamily="34" charset="-122"/>
      <p:regular r:id="rId40"/>
      <p:bold r:id="rId41"/>
      <p:italic r:id="rId42"/>
      <p:boldItalic r:id="rId43"/>
    </p:embeddedFont>
    <p:embeddedFont>
      <p:font typeface="Consolas" panose="020B0609020204030204" pitchFamily="34" charset="-120"/>
      <p:regular r:id="rId44"/>
      <p:bold r:id="rId45"/>
      <p:italic r:id="rId46"/>
      <p:boldItalic r:id="rId47"/>
    </p:embeddedFont>
    <p:embeddedFont>
      <p:font typeface="Figtree Bold" pitchFamily="34" charset="0"/>
      <p:bold r:id="rId48"/>
    </p:embeddedFont>
    <p:embeddedFont>
      <p:font typeface="Figtree Bold" pitchFamily="34" charset="-122"/>
      <p:bold r:id="rId49"/>
    </p:embeddedFont>
    <p:embeddedFont>
      <p:font typeface="Figtree Bold" pitchFamily="34" charset="-120"/>
      <p:bold r:id="rId50"/>
    </p:embeddedFont>
    <p:embeddedFont>
      <p:font typeface="Calibri" panose="020F0502020204030204" charset="0"/>
      <p:regular r:id="rId51"/>
      <p:bold r:id="rId52"/>
      <p:italic r:id="rId53"/>
      <p:boldItalic r:id="rId5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schemas.openxmlformats.org/officeDocument/2006/relationships/font" Target="fonts/font11.fntdata"/><Relationship Id="rId26" Type="http://schemas.openxmlformats.org/officeDocument/2006/relationships/font" Target="fonts/font12.fntdata"/><Relationship Id="rId27" Type="http://schemas.openxmlformats.org/officeDocument/2006/relationships/font" Target="fonts/font13.fntdata"/><Relationship Id="rId28" Type="http://schemas.openxmlformats.org/officeDocument/2006/relationships/font" Target="fonts/font14.fntdata"/><Relationship Id="rId29" Type="http://schemas.openxmlformats.org/officeDocument/2006/relationships/font" Target="fonts/font15.fntdata"/><Relationship Id="rId30" Type="http://schemas.openxmlformats.org/officeDocument/2006/relationships/font" Target="fonts/font16.fntdata"/><Relationship Id="rId31" Type="http://schemas.openxmlformats.org/officeDocument/2006/relationships/font" Target="fonts/font17.fntdata"/><Relationship Id="rId32" Type="http://schemas.openxmlformats.org/officeDocument/2006/relationships/font" Target="fonts/font18.fntdata"/><Relationship Id="rId33" Type="http://schemas.openxmlformats.org/officeDocument/2006/relationships/font" Target="fonts/font19.fntdata"/><Relationship Id="rId34" Type="http://schemas.openxmlformats.org/officeDocument/2006/relationships/font" Target="fonts/font20.fntdata"/><Relationship Id="rId35" Type="http://schemas.openxmlformats.org/officeDocument/2006/relationships/font" Target="fonts/font21.fntdata"/><Relationship Id="rId36" Type="http://schemas.openxmlformats.org/officeDocument/2006/relationships/font" Target="fonts/font22.fntdata"/><Relationship Id="rId37" Type="http://schemas.openxmlformats.org/officeDocument/2006/relationships/font" Target="fonts/font23.fntdata"/><Relationship Id="rId38" Type="http://schemas.openxmlformats.org/officeDocument/2006/relationships/font" Target="fonts/font24.fntdata"/><Relationship Id="rId39" Type="http://schemas.openxmlformats.org/officeDocument/2006/relationships/font" Target="fonts/font25.fntdata"/><Relationship Id="rId40" Type="http://schemas.openxmlformats.org/officeDocument/2006/relationships/font" Target="fonts/font26.fntdata"/><Relationship Id="rId41" Type="http://schemas.openxmlformats.org/officeDocument/2006/relationships/font" Target="fonts/font27.fntdata"/><Relationship Id="rId42" Type="http://schemas.openxmlformats.org/officeDocument/2006/relationships/font" Target="fonts/font28.fntdata"/><Relationship Id="rId43" Type="http://schemas.openxmlformats.org/officeDocument/2006/relationships/font" Target="fonts/font29.fntdata"/><Relationship Id="rId44" Type="http://schemas.openxmlformats.org/officeDocument/2006/relationships/font" Target="fonts/font30.fntdata"/><Relationship Id="rId45" Type="http://schemas.openxmlformats.org/officeDocument/2006/relationships/font" Target="fonts/font31.fntdata"/><Relationship Id="rId46" Type="http://schemas.openxmlformats.org/officeDocument/2006/relationships/font" Target="fonts/font32.fntdata"/><Relationship Id="rId47" Type="http://schemas.openxmlformats.org/officeDocument/2006/relationships/font" Target="fonts/font33.fntdata"/><Relationship Id="rId48" Type="http://schemas.openxmlformats.org/officeDocument/2006/relationships/font" Target="fonts/font34.fntdata"/><Relationship Id="rId49" Type="http://schemas.openxmlformats.org/officeDocument/2006/relationships/font" Target="fonts/font35.fntdata"/><Relationship Id="rId50" Type="http://schemas.openxmlformats.org/officeDocument/2006/relationships/font" Target="fonts/font36.fntdata"/><Relationship Id="rId51" Type="http://schemas.openxmlformats.org/officeDocument/2006/relationships/font" Target="fonts/font37.fntdata"/><Relationship Id="rId52" Type="http://schemas.openxmlformats.org/officeDocument/2006/relationships/font" Target="fonts/font38.fntdata"/><Relationship Id="rId53" Type="http://schemas.openxmlformats.org/officeDocument/2006/relationships/font" Target="fonts/font39.fntdata"/><Relationship Id="rId54" Type="http://schemas.openxmlformats.org/officeDocument/2006/relationships/font" Target="fonts/font4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engineering agent built to automate the high-frequency, low-creativity fixes that backlog maintainers and delay contributor momentum.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maintainer recognizes this friction: minor documentation errors and tiny typos create disproportionate queue overhead and leave contributors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end-to-end mission: eliminating the manual gap between issue creation and pull request submission with a deterministic, disciplined agent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five distinct stages. Emphasize step 5: pausing when uncertain is what makes this agent safe for production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the primary feature of this agent. It is designed to act as an eager junior engineer who always submits PRs for review rather than committing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architecture: Python handles orchestrating the pipeline, GitHub API provides seamless ecosystem access, and Claude delivers accurate, surgical code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demo: an issue that would typically sit idle for three days is parsed, targeted, tested, and turned into a ready-to-merge PR within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the pragmatic strategy: begin with bounded, risk-free tasks, prove trust and value, and expand capabilities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86582"/>
            <a:ext cx="5079873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kern="100" spc="-7" dirty="0">
                <a:solidFill>
                  <a:srgbClr val="1E2A44"/>
                </a:solidFill>
                <a:latin typeface="Urbanist Bold" panose="020B0A04040200000203" pitchFamily="34" charset="0"/>
                <a:ea typeface="Urbanist Bold" panose="020B0A04040200000203" pitchFamily="34" charset="-122"/>
                <a:cs typeface="Urbanist Bold" panose="020B0A04040200000203" pitchFamily="34" charset="-120"/>
              </a:rPr>
              <a:t>GitHub Hackathon 2026 · [Team name]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980307"/>
            <a:ext cx="4825879" cy="2000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10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From GitHub issue to reviewed pull request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4190107"/>
            <a:ext cx="4825879" cy="6399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 AI engineering agent for the small fixes that quietly consume maintainer time.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001518"/>
            <a:ext cx="4825879" cy="123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296793"/>
            <a:ext cx="5079873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SUBMISSION DATE · 7 OCTOBER 2026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458" y="0"/>
            <a:ext cx="65022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Small issues create a large maintenance tax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200150"/>
            <a:ext cx="6309262" cy="1581150"/>
          </a:xfrm>
          <a:prstGeom prst="roundRect">
            <a:avLst>
              <a:gd name="adj" fmla="val 13494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76278" y="1390650"/>
            <a:ext cx="5775875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Low-creativity backlog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278" y="1770955"/>
            <a:ext cx="5775875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Typos, minor bugs, and documentation fixes require context switches rather than deep design thinking.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933700"/>
            <a:ext cx="6309262" cy="1581150"/>
          </a:xfrm>
          <a:prstGeom prst="roundRect">
            <a:avLst>
              <a:gd name="adj" fmla="val 13494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6278" y="3124200"/>
            <a:ext cx="5775875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Maintainer queue congestion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6278" y="3504505"/>
            <a:ext cx="5775875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Even a five-minute fix sits in queues for days, draining attention away from core roadmap features.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4667250"/>
            <a:ext cx="6309262" cy="1581150"/>
          </a:xfrm>
          <a:prstGeom prst="roundRect">
            <a:avLst>
              <a:gd name="adj" fmla="val 13494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6278" y="4857750"/>
            <a:ext cx="5775875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Contributor stall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278" y="5238055"/>
            <a:ext cx="5775875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External contributors and team members wait longer for feedback, validation, and an obvious path to contribution.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530" y="1428750"/>
            <a:ext cx="3748986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58825"/>
            <a:ext cx="10972526" cy="586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Give every small issue a safe path to done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536005"/>
            <a:ext cx="5841854" cy="6399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Issue-to-PR Agent automates the mechanical pipeline from problem report to mergeable review.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47416"/>
            <a:ext cx="10972526" cy="1238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2699841"/>
            <a:ext cx="1950691" cy="1921272"/>
          </a:xfrm>
          <a:prstGeom prst="roundRect">
            <a:avLst>
              <a:gd name="adj" fmla="val 1110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79" y="2915741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5479" y="3407866"/>
            <a:ext cx="1518902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1. Read Issue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5479" y="3788172"/>
            <a:ext cx="1518902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Ingests issue title, context, and issue description.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864969" y="2699841"/>
            <a:ext cx="1950691" cy="1921272"/>
          </a:xfrm>
          <a:prstGeom prst="roundRect">
            <a:avLst>
              <a:gd name="adj" fmla="val 1110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864" y="2915741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80864" y="3407866"/>
            <a:ext cx="1518902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2. Locate File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080864" y="3788172"/>
            <a:ext cx="1518902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Identifies the exact file and line needing changes.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120353" y="2699841"/>
            <a:ext cx="1950889" cy="1921272"/>
          </a:xfrm>
          <a:prstGeom prst="roundRect">
            <a:avLst>
              <a:gd name="adj" fmla="val 1110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248" y="2915741"/>
            <a:ext cx="380990" cy="381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36248" y="3407866"/>
            <a:ext cx="1519100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3. Write Fix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336248" y="3788172"/>
            <a:ext cx="1519100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Generates a concise, minimal patch that solves the issue.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375936" y="2699841"/>
            <a:ext cx="1950691" cy="1921272"/>
          </a:xfrm>
          <a:prstGeom prst="roundRect">
            <a:avLst>
              <a:gd name="adj" fmla="val 1110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830" y="2915741"/>
            <a:ext cx="380990" cy="381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91830" y="3407866"/>
            <a:ext cx="1518902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4. Run Tests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7591830" y="3788172"/>
            <a:ext cx="1518902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Executes test suites to ensure zero regressions.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9631320" y="2699841"/>
            <a:ext cx="1950790" cy="1921272"/>
          </a:xfrm>
          <a:prstGeom prst="roundRect">
            <a:avLst>
              <a:gd name="adj" fmla="val 1110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7215" y="2915741"/>
            <a:ext cx="380990" cy="3810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47215" y="3407866"/>
            <a:ext cx="1519001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5. Open PR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9847215" y="3788172"/>
            <a:ext cx="1519001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Delivers a clear explanation ready for human review.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Five steps from issue to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047750"/>
            <a:ext cx="1158211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disciplined, reproducible lifecycle executed on every triggered issue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424880"/>
            <a:ext cx="10972526" cy="123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1726505"/>
            <a:ext cx="1950691" cy="2117427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080" y="1917005"/>
            <a:ext cx="330192" cy="330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5568" y="1999555"/>
            <a:ext cx="708702" cy="165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080" y="2348805"/>
            <a:ext cx="1569701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Target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080" y="2729111"/>
            <a:ext cx="1569701" cy="693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 the issue and identify the likely file in the repo.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64969" y="1726505"/>
            <a:ext cx="1950691" cy="2117427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55464" y="1917005"/>
            <a:ext cx="330192" cy="330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70952" y="1999555"/>
            <a:ext cx="708702" cy="165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55464" y="2348805"/>
            <a:ext cx="1569701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Patch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055464" y="2729111"/>
            <a:ext cx="1569701" cy="9243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Generate the smallest useful change that solves the problem.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120353" y="1726505"/>
            <a:ext cx="1950889" cy="2117427"/>
          </a:xfrm>
          <a:prstGeom prst="roundRect">
            <a:avLst>
              <a:gd name="adj" fmla="val 1093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10848" y="1917005"/>
            <a:ext cx="330192" cy="330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26336" y="1999555"/>
            <a:ext cx="708702" cy="165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10848" y="2348805"/>
            <a:ext cx="1569899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Verify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10848" y="2729111"/>
            <a:ext cx="1569899" cy="693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Run all available tests locally before publishing code.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75936" y="1726505"/>
            <a:ext cx="1950691" cy="2117427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66431" y="1917005"/>
            <a:ext cx="330192" cy="330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1919" y="1999555"/>
            <a:ext cx="708702" cy="165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66431" y="2348805"/>
            <a:ext cx="1569701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Deliver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66431" y="2729111"/>
            <a:ext cx="1569701" cy="9243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Open a pull request with the full reasoning and test output.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31320" y="1726505"/>
            <a:ext cx="1950790" cy="2117427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821815" y="1917005"/>
            <a:ext cx="330192" cy="330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37303" y="1999555"/>
            <a:ext cx="708702" cy="165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821815" y="2348805"/>
            <a:ext cx="1569800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Safeguard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821815" y="2729111"/>
            <a:ext cx="1569800" cy="9243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Pause for human clarification whenever confidence is low.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Automation stops before trust breaks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047750"/>
            <a:ext cx="1158211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Explicit safety bounds keep the agent useful without risking repository integrity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424880"/>
            <a:ext cx="10972526" cy="123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1726505"/>
            <a:ext cx="3454314" cy="467429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78" y="2018605"/>
            <a:ext cx="38099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6278" y="2510730"/>
            <a:ext cx="2920927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Protected Main Branch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76278" y="2952055"/>
            <a:ext cx="2920927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agent never pushes directly to main or production branches. Every modification arrives isolated on a dedicated feature branch.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368691" y="1726505"/>
            <a:ext cx="3454314" cy="467429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384" y="2018605"/>
            <a:ext cx="38099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5384" y="2510730"/>
            <a:ext cx="2920927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Confidence Check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635384" y="2952055"/>
            <a:ext cx="2920927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Instead of guessing through ambiguity, the agent checks its own confidence. If file targeting or test coverage is uncertain, it halts and requests input.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27797" y="1726505"/>
            <a:ext cx="3454314" cy="467429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490" y="2018605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94490" y="2510730"/>
            <a:ext cx="2920927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Human In The Loop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8394490" y="2952055"/>
            <a:ext cx="2920927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Leaves the final merge decision entirely to human reviewers. Maintainers retain absolute authority over what enters the codebase.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Simple stack, focused job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047750"/>
            <a:ext cx="1158211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Three proven components working in seamless concert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424880"/>
            <a:ext cx="10972526" cy="123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1726505"/>
            <a:ext cx="3454314" cy="467429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6278" y="2044005"/>
            <a:ext cx="932732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90575" y="2101155"/>
            <a:ext cx="1313723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RUNTIME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6278" y="2475805"/>
            <a:ext cx="2920927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Python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6278" y="2917130"/>
            <a:ext cx="2920927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Orchestrates the agent workflow, executes local commands, monitors test runners, and coordinates tool execution with deterministic error handling.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8691" y="1726505"/>
            <a:ext cx="3454314" cy="467429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5384" y="2044005"/>
            <a:ext cx="1033337" cy="304800"/>
          </a:xfrm>
          <a:prstGeom prst="roundRect">
            <a:avLst>
              <a:gd name="adj" fmla="val 44999"/>
            </a:avLst>
          </a:prstGeom>
          <a:noFill/>
          <a:ln w="6350">
            <a:solidFill>
              <a:srgbClr val="1E2A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49681" y="2101155"/>
            <a:ext cx="1414328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35384" y="2475805"/>
            <a:ext cx="2920927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GitHub API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35384" y="2917130"/>
            <a:ext cx="2920927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Reads incoming issues, pulls repository file trees, checks existing CI runs, and opens structured pull requests directly in the repository.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127797" y="1726505"/>
            <a:ext cx="3454314" cy="467429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4490" y="2044005"/>
            <a:ext cx="1435659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08787" y="2101155"/>
            <a:ext cx="181665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94490" y="2475805"/>
            <a:ext cx="2920927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Claude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94490" y="2917130"/>
            <a:ext cx="2920927" cy="1333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Analyzes issue descriptions, localizes the bug, drafts targeted code modifications, and articulates a concise technical explanation for reviewers.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Demo: “Helo” becomes a reviewable fix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022350"/>
            <a:ext cx="1158211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tiny issue, one traceable change, one human review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399480"/>
            <a:ext cx="10972526" cy="123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1650305"/>
            <a:ext cx="4978275" cy="4775895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6278" y="2120205"/>
            <a:ext cx="4711582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GITHUB ISSUE #1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6278" y="2421830"/>
            <a:ext cx="4444889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Issue: “Helo typo in README”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6278" y="2802136"/>
            <a:ext cx="4444889" cy="4748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Reported by contributor: </a:t>
            </a:r>
            <a:r>
              <a:rPr lang="en-US" sz="1300" dirty="0">
                <a:solidFill>
                  <a:srgbClr val="1E2A44"/>
                </a:solidFill>
                <a:highlight>
                  <a:srgbClr val="FFFFFF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README.md line 1 reads 'Helo world'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6278" y="5502970"/>
            <a:ext cx="4444889" cy="707330"/>
          </a:xfrm>
          <a:prstGeom prst="roundRect">
            <a:avLst>
              <a:gd name="adj" fmla="val 24238"/>
            </a:avLst>
          </a:prstGeom>
          <a:solidFill>
            <a:srgbClr val="FFB3B4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73" y="5779195"/>
            <a:ext cx="190495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7764" y="5741095"/>
            <a:ext cx="4140096" cy="231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Status:</a:t>
            </a:r>
            <a:r>
              <a:rPr lang="en-US" sz="13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Open · Waiting on maintainer triage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892553" y="1650305"/>
            <a:ext cx="5689557" cy="4775895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184646" y="1917005"/>
            <a:ext cx="5397464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AGENT EXECUTION &amp; PR #2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4646" y="2202755"/>
            <a:ext cx="355591" cy="3556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09063" y="2291655"/>
            <a:ext cx="716341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667234" y="2266255"/>
            <a:ext cx="4622784" cy="237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Locate:</a:t>
            </a: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Agent scans repository and finds </a:t>
            </a:r>
            <a:r>
              <a:rPr lang="en-US" sz="1300" dirty="0">
                <a:solidFill>
                  <a:srgbClr val="1E2A44"/>
                </a:solidFill>
                <a:highlight>
                  <a:srgbClr val="FFFFFF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README.md</a:t>
            </a: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84646" y="2710755"/>
            <a:ext cx="355591" cy="3556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063" y="2799655"/>
            <a:ext cx="716341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667234" y="2774255"/>
            <a:ext cx="4622784" cy="237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Patch:</a:t>
            </a: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Replaces </a:t>
            </a:r>
            <a:r>
              <a:rPr lang="en-US" sz="1300" dirty="0">
                <a:solidFill>
                  <a:srgbClr val="1E2A44"/>
                </a:solidFill>
                <a:highlight>
                  <a:srgbClr val="FFFFFF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Helo</a:t>
            </a: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with </a:t>
            </a:r>
            <a:r>
              <a:rPr lang="en-US" sz="1300" dirty="0">
                <a:solidFill>
                  <a:srgbClr val="1E2A44"/>
                </a:solidFill>
                <a:highlight>
                  <a:srgbClr val="FFFFFF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Hello</a:t>
            </a: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cleanly.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84646" y="3218755"/>
            <a:ext cx="355591" cy="3556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09063" y="3307655"/>
            <a:ext cx="716341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Mono SemiBold" panose="02010509040201060303" pitchFamily="34" charset="0"/>
                <a:ea typeface="Red Hat Mono SemiBold" panose="02010509040201060303" pitchFamily="34" charset="-122"/>
                <a:cs typeface="Red Hat Mono SemiBold" panose="02010509040201060303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667234" y="3282255"/>
            <a:ext cx="4622784" cy="237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Deliver:</a:t>
            </a: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Opens Pull Request with title </a:t>
            </a:r>
            <a:r>
              <a:rPr lang="en-US" sz="1300" dirty="0">
                <a:solidFill>
                  <a:srgbClr val="1E2A44"/>
                </a:solidFill>
                <a:highlight>
                  <a:srgbClr val="FFFFFF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Closes #1</a:t>
            </a: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84646" y="5221089"/>
            <a:ext cx="5105371" cy="938411"/>
          </a:xfrm>
          <a:prstGeom prst="roundRect">
            <a:avLst>
              <a:gd name="adj" fmla="val 18270"/>
            </a:avLst>
          </a:prstGeom>
          <a:solidFill>
            <a:srgbClr val="B6FCB8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141" y="5497314"/>
            <a:ext cx="190495" cy="152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56132" y="5459214"/>
            <a:ext cx="4343391" cy="462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 #2 opened:</a:t>
            </a:r>
            <a:r>
              <a:rPr lang="en-US" sz="13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“Fixes typo in README documentation. Closes #1.” · Tests passed.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8426"/>
            <a:ext cx="6324442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Start with small fixes. Scale with confidence.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889026"/>
            <a:ext cx="6324442" cy="6399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Ship the safe first version now; expand the trust boundary deliberately.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00437"/>
            <a:ext cx="6324442" cy="123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976662"/>
            <a:ext cx="6324442" cy="1172666"/>
          </a:xfrm>
          <a:prstGeom prst="roundRect">
            <a:avLst>
              <a:gd name="adj" fmla="val 18194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5479" y="3141762"/>
            <a:ext cx="5892653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Immediate Impact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5479" y="3522067"/>
            <a:ext cx="5892653" cy="462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Faster issue resolution, reduced maintainer maintenance burden, and a quicker, more encouraging onboarding path for new contributors.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9585" y="4454128"/>
            <a:ext cx="6324442" cy="1172666"/>
          </a:xfrm>
          <a:prstGeom prst="roundRect">
            <a:avLst>
              <a:gd name="adj" fmla="val 18194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5479" y="4619228"/>
            <a:ext cx="5892653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Roadmap &amp; Next Steps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5479" y="4999534"/>
            <a:ext cx="5892653" cy="462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Introduce autonomous reviewer agents, isolated sandbox test execution, and real-time GitHub webhook automation.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9585" y="5753795"/>
            <a:ext cx="6705432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Submitted 7 October 2026 · Built for the GitHub Hackathon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3596</Words>
  <Application>WPS Presentation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49" baseType="lpstr">
      <vt:lpstr>Arial</vt:lpstr>
      <vt:lpstr>SimSun</vt:lpstr>
      <vt:lpstr>Wingdings</vt:lpstr>
      <vt:lpstr>Urbanist Bold</vt:lpstr>
      <vt:lpstr>Urbanist Bold</vt:lpstr>
      <vt:lpstr>Urbanist Bold</vt:lpstr>
      <vt:lpstr>Urbanist ExtraBold</vt:lpstr>
      <vt:lpstr>Urbanist ExtraBold</vt:lpstr>
      <vt:lpstr>Urbanist ExtraBold</vt:lpstr>
      <vt:lpstr>Figtree</vt:lpstr>
      <vt:lpstr>Figtree</vt:lpstr>
      <vt:lpstr>Figtree</vt:lpstr>
      <vt:lpstr>Red Hat Mono Medium</vt:lpstr>
      <vt:lpstr>Red Hat Mono Medium</vt:lpstr>
      <vt:lpstr>Red Hat Mono Medium</vt:lpstr>
      <vt:lpstr>Figtree SemiBold</vt:lpstr>
      <vt:lpstr>Figtree SemiBold</vt:lpstr>
      <vt:lpstr>Figtree SemiBold</vt:lpstr>
      <vt:lpstr>Red Hat Mono SemiBold</vt:lpstr>
      <vt:lpstr>Red Hat Mono SemiBold</vt:lpstr>
      <vt:lpstr>Red Hat Mono SemiBold</vt:lpstr>
      <vt:lpstr>Urbanist SemiBold</vt:lpstr>
      <vt:lpstr>Urbanist SemiBold</vt:lpstr>
      <vt:lpstr>Urbanist SemiBold</vt:lpstr>
      <vt:lpstr>Consolas</vt:lpstr>
      <vt:lpstr>Consolas</vt:lpstr>
      <vt:lpstr>Consolas</vt:lpstr>
      <vt:lpstr>Figtree Bold</vt:lpstr>
      <vt:lpstr>Figtree Bold</vt:lpstr>
      <vt:lpstr>Figtree Bold</vt:lpstr>
      <vt:lpstr>Calibri</vt:lpstr>
      <vt:lpstr>Microsoft YaHei</vt:lpstr>
      <vt:lpstr>Arial Unicode MS</vt:lpstr>
      <vt:lpstr>Wingdings</vt:lpstr>
      <vt:lpstr>Inter Bold</vt:lpstr>
      <vt:lpstr>Segoe Print</vt:lpstr>
      <vt:lpstr>Inter</vt:lpstr>
      <vt:lpstr>江城圆体 400W</vt:lpstr>
      <vt:lpstr>Mali SemiBold</vt:lpstr>
      <vt:lpstr>Mali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Dharun sekar</cp:lastModifiedBy>
  <cp:revision>2</cp:revision>
  <dcterms:created xsi:type="dcterms:W3CDTF">2026-10-04T05:58:00Z</dcterms:created>
  <dcterms:modified xsi:type="dcterms:W3CDTF">2026-10-04T06:04:58Z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5AE392D8E26D4212BE6683E51220398A_12</vt:lpwstr>
  </property>
</Properties>
</file>